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24"/>
  </p:notesMasterIdLst>
  <p:sldIdLst>
    <p:sldId id="259" r:id="rId6"/>
    <p:sldId id="323" r:id="rId7"/>
    <p:sldId id="369" r:id="rId8"/>
    <p:sldId id="370" r:id="rId9"/>
    <p:sldId id="371" r:id="rId10"/>
    <p:sldId id="372" r:id="rId11"/>
    <p:sldId id="359" r:id="rId12"/>
    <p:sldId id="364" r:id="rId13"/>
    <p:sldId id="365" r:id="rId14"/>
    <p:sldId id="360" r:id="rId15"/>
    <p:sldId id="366" r:id="rId16"/>
    <p:sldId id="367" r:id="rId17"/>
    <p:sldId id="357" r:id="rId18"/>
    <p:sldId id="368" r:id="rId19"/>
    <p:sldId id="341" r:id="rId20"/>
    <p:sldId id="362" r:id="rId21"/>
    <p:sldId id="363" r:id="rId22"/>
    <p:sldId id="358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F526B-D8D1-6A08-891E-F9D1865AE179}" v="2" dt="2026-02-07T20:45:22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84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ANDRES GARC�A RENDON" userId="S::camilogarcia230113@correo.itm.edu.co::56d227ed-99d5-4ed6-942a-3045f00d19ce" providerId="AD" clId="Web-{042F526B-D8D1-6A08-891E-F9D1865AE179}"/>
    <pc:docChg chg="modSld">
      <pc:chgData name="CAMILO ANDRES GARC�A RENDON" userId="S::camilogarcia230113@correo.itm.edu.co::56d227ed-99d5-4ed6-942a-3045f00d19ce" providerId="AD" clId="Web-{042F526B-D8D1-6A08-891E-F9D1865AE179}" dt="2026-02-07T20:45:22.328" v="1" actId="14100"/>
      <pc:docMkLst>
        <pc:docMk/>
      </pc:docMkLst>
      <pc:sldChg chg="modSp">
        <pc:chgData name="CAMILO ANDRES GARC�A RENDON" userId="S::camilogarcia230113@correo.itm.edu.co::56d227ed-99d5-4ed6-942a-3045f00d19ce" providerId="AD" clId="Web-{042F526B-D8D1-6A08-891E-F9D1865AE179}" dt="2026-02-07T20:45:22.328" v="1" actId="14100"/>
        <pc:sldMkLst>
          <pc:docMk/>
          <pc:sldMk cId="206677864" sldId="367"/>
        </pc:sldMkLst>
        <pc:picChg chg="mod">
          <ac:chgData name="CAMILO ANDRES GARC�A RENDON" userId="S::camilogarcia230113@correo.itm.edu.co::56d227ed-99d5-4ed6-942a-3045f00d19ce" providerId="AD" clId="Web-{042F526B-D8D1-6A08-891E-F9D1865AE179}" dt="2026-02-07T20:45:22.328" v="1" actId="14100"/>
          <ac:picMkLst>
            <pc:docMk/>
            <pc:sldMk cId="206677864" sldId="367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jp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jp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jp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409037" y="300726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chemeClr val="lt1"/>
              </a:buClr>
              <a:buSzPts val="5400"/>
            </a:pPr>
            <a:r>
              <a:rPr lang="es-CO" sz="5400" dirty="0">
                <a:solidFill>
                  <a:schemeClr val="bg1"/>
                </a:solidFill>
              </a:rPr>
              <a:t>Características de la programación orientada a objetos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06640B99-8FBF-FD69-CA93-EBF3B35DFC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1"/>
            <a:ext cx="12192000" cy="683287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3126747" y="942153"/>
            <a:ext cx="65423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endParaRPr lang="es-MX" sz="5400" b="1" dirty="0">
              <a:solidFill>
                <a:schemeClr val="bg1"/>
              </a:solidFill>
              <a:latin typeface="Montserrat" panose="00000500000000000000" pitchFamily="50" charset="0"/>
              <a:cs typeface="Myanmar Text" panose="020B0502040204020203" pitchFamily="34" charset="0"/>
            </a:endParaRPr>
          </a:p>
          <a:p>
            <a:pPr lvl="0" algn="ctr">
              <a:buClr>
                <a:schemeClr val="lt1"/>
              </a:buClr>
              <a:buSzPts val="5400"/>
            </a:pPr>
            <a:r>
              <a:rPr lang="es-MX" sz="5400" b="1" dirty="0">
                <a:solidFill>
                  <a:schemeClr val="bg1"/>
                </a:solidFill>
                <a:latin typeface="Montserrat" panose="00000500000000000000" pitchFamily="50" charset="0"/>
                <a:cs typeface="Myanmar Text" panose="020B0502040204020203" pitchFamily="34" charset="0"/>
              </a:rPr>
              <a:t>POO</a:t>
            </a:r>
            <a:endParaRPr lang="es-MX" sz="5400" b="1" dirty="0">
              <a:latin typeface="Montserrat" panose="00000500000000000000" pitchFamily="50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79F09C7-8FC6-EF1F-25DF-E76D6969F6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01890" y="4135277"/>
            <a:ext cx="2694355" cy="56927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774829-C169-1AC8-E78D-AC4E509453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00" y="2856984"/>
            <a:ext cx="500550" cy="299029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C404DC8-732D-2689-2422-F7137B4E81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7570" y="2580594"/>
            <a:ext cx="705379" cy="345365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783A1E5-68B7-38E5-5CF1-BDE97167F3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5924" y="1991249"/>
            <a:ext cx="1215993" cy="87212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28B6FF4-9469-57BD-3480-5B21D9B153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144" y="4629150"/>
            <a:ext cx="3066965" cy="124827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76DA06F-5E96-4296-4B50-81F6E1406A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161" y="2856984"/>
            <a:ext cx="3066965" cy="1251974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0F5D427A-0BCB-5512-83C3-2262608FC0B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4" t="31620" r="16125" b="13664"/>
          <a:stretch/>
        </p:blipFill>
        <p:spPr>
          <a:xfrm>
            <a:off x="6443578" y="4528729"/>
            <a:ext cx="1669774" cy="1449112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64A8AB23-AA9D-3509-88AC-8EC5C5B0F7F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8" t="17928" r="19648" b="27356"/>
          <a:stretch/>
        </p:blipFill>
        <p:spPr>
          <a:xfrm>
            <a:off x="8210409" y="4467834"/>
            <a:ext cx="1624329" cy="1449112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00C92FE1-E2C2-7385-F98C-BD9622DE004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3" t="29822" r="8317" b="25035"/>
          <a:stretch/>
        </p:blipFill>
        <p:spPr>
          <a:xfrm rot="10800000">
            <a:off x="3491806" y="2067929"/>
            <a:ext cx="628854" cy="35938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C06FCF5-D677-9582-41B5-757C5C319AE9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220" y="2538333"/>
            <a:ext cx="2686700" cy="20076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56A5635-13C5-B1FB-FD31-6F33B365FCDD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745" y="688835"/>
            <a:ext cx="2686700" cy="200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6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5592" y="690441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s-E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Clases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16003"/>
            <a:ext cx="10515600" cy="4160959"/>
          </a:xfrm>
        </p:spPr>
        <p:txBody>
          <a:bodyPr>
            <a:normAutofit/>
          </a:bodyPr>
          <a:lstStyle/>
          <a:p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plantillas donde a partir de un objeto, se definen las propiedades, atributos y métodos que son los que definen los comportamientos de los objetos 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964" y="2643920"/>
            <a:ext cx="61531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3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instancias de una clase, donde cada objeto contiene su propio conjunto de datos(llamados atributos) y el que puede utilizar los métodos definidos de una clase </a:t>
            </a:r>
          </a:p>
          <a:p>
            <a:pPr marL="0" indent="0"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</a:t>
            </a:r>
          </a:p>
          <a:p>
            <a:pPr marL="0" indent="0">
              <a:buNone/>
            </a:pP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claseCoche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 = new </a:t>
            </a: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claseCoche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c.colo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c.marca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c.modelo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17119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76140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Atributos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características o variables que definen que datos se manipulan en un objeto </a:t>
            </a:r>
          </a:p>
          <a:p>
            <a:pPr marL="0" indent="0"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28" y="3151188"/>
            <a:ext cx="9543317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95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11310"/>
            <a:ext cx="10515600" cy="1325563"/>
          </a:xfrm>
        </p:spPr>
        <p:txBody>
          <a:bodyPr/>
          <a:lstStyle/>
          <a:p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Metodos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(funciones)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acciones o comportamientos que un objeto puede realizar, los métodos se definen dentro de una clase y los cuales tienen una función especifica, hay varios tipos de métodos </a:t>
            </a:r>
          </a:p>
          <a:p>
            <a:pPr marL="0" indent="0">
              <a:buNone/>
            </a:pP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vacio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es el método que no recibe ni devuelve datos y se declara de la siguiente manera </a:t>
            </a:r>
          </a:p>
          <a:p>
            <a:pPr marL="0" indent="0">
              <a:buNone/>
            </a:pP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Objvacio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(){}</a:t>
            </a:r>
          </a:p>
          <a:p>
            <a:pPr marL="0" indent="0">
              <a:buNone/>
            </a:pP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retorna un valor pero no recibe ningún parámetro</a:t>
            </a:r>
          </a:p>
          <a:p>
            <a:pPr marL="0" indent="0">
              <a:buNone/>
            </a:pP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objRetorno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(){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retorna y recibe parámetros </a:t>
            </a:r>
          </a:p>
          <a:p>
            <a:pPr marL="0" indent="0">
              <a:buNone/>
            </a:pP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ObjrecibeRetorna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n1,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venta){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}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6923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58608BC-D135-3952-FCDA-0F44F5D7D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849383E-087E-ED41-E8E5-BAAEC0E56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25B93AD-1553-D8CC-93F3-3012640D0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FBD22CF-BEED-2DD1-40DF-2CE2CD707A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F2DA3B-0116-537A-2249-51A2D9605E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00031E8-6C9E-0273-ABB5-AD5BBA6003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CBA9D42-52B7-AF3E-04AF-D9CF588E6F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A96831C-51AE-AD44-FD59-1067438E32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0D8FD56-1589-DA92-C5A8-DCBF3696EB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91C210-D903-6B8A-7CD4-9F77B88C1B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DEA7F6DB-940F-76ED-40AB-B4A6740B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93" y="1465407"/>
            <a:ext cx="7958331" cy="1077229"/>
          </a:xfrm>
        </p:spPr>
        <p:txBody>
          <a:bodyPr/>
          <a:lstStyle/>
          <a:p>
            <a:r>
              <a:rPr lang="es-CO" dirty="0"/>
              <a:t>Constructores 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1F4116E5-3BCD-7AB0-1012-5F79A6509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277" y="2366861"/>
            <a:ext cx="2938943" cy="3997828"/>
          </a:xfrm>
        </p:spPr>
        <p:txBody>
          <a:bodyPr/>
          <a:lstStyle/>
          <a:p>
            <a:r>
              <a:rPr lang="es-CO" dirty="0"/>
              <a:t>Los constructores permiten inicializar los objetos y establecer sus valores predeterminados ejemplo </a:t>
            </a:r>
          </a:p>
          <a:p>
            <a:endParaRPr lang="es-CO" dirty="0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885FDE8D-C7ED-5DF4-CA75-F38728D5D1D0}"/>
              </a:ext>
            </a:extLst>
          </p:cNvPr>
          <p:cNvSpPr txBox="1">
            <a:spLocks/>
          </p:cNvSpPr>
          <p:nvPr/>
        </p:nvSpPr>
        <p:spPr>
          <a:xfrm>
            <a:off x="5766619" y="2052116"/>
            <a:ext cx="2938943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 err="1"/>
              <a:t>public</a:t>
            </a:r>
            <a:r>
              <a:rPr lang="es-CO" dirty="0"/>
              <a:t> </a:t>
            </a:r>
            <a:r>
              <a:rPr lang="es-CO" dirty="0" err="1"/>
              <a:t>class</a:t>
            </a:r>
            <a:r>
              <a:rPr lang="es-CO" dirty="0"/>
              <a:t> Ejemplo {</a:t>
            </a:r>
          </a:p>
          <a:p>
            <a:r>
              <a:rPr lang="es-CO" dirty="0"/>
              <a:t>       </a:t>
            </a:r>
            <a:r>
              <a:rPr lang="es-CO" dirty="0" err="1"/>
              <a:t>int</a:t>
            </a:r>
            <a:r>
              <a:rPr lang="es-CO" dirty="0"/>
              <a:t> </a:t>
            </a:r>
            <a:r>
              <a:rPr lang="es-CO" dirty="0" err="1"/>
              <a:t>num</a:t>
            </a:r>
            <a:r>
              <a:rPr lang="es-CO" dirty="0"/>
              <a:t>;</a:t>
            </a:r>
          </a:p>
          <a:p>
            <a:r>
              <a:rPr lang="es-CO" dirty="0"/>
              <a:t>       </a:t>
            </a:r>
            <a:r>
              <a:rPr lang="es-CO" dirty="0" err="1"/>
              <a:t>String</a:t>
            </a:r>
            <a:r>
              <a:rPr lang="es-CO" dirty="0"/>
              <a:t> cadena;</a:t>
            </a:r>
          </a:p>
          <a:p>
            <a:r>
              <a:rPr lang="es-CO" dirty="0"/>
              <a:t>    </a:t>
            </a:r>
            <a:r>
              <a:rPr lang="es-CO" dirty="0" err="1"/>
              <a:t>public</a:t>
            </a:r>
            <a:r>
              <a:rPr lang="es-CO" dirty="0"/>
              <a:t> Ejemplo() {</a:t>
            </a:r>
          </a:p>
          <a:p>
            <a:r>
              <a:rPr lang="es-CO" dirty="0"/>
              <a:t>     </a:t>
            </a:r>
            <a:r>
              <a:rPr lang="es-CO" dirty="0" err="1"/>
              <a:t>num</a:t>
            </a:r>
            <a:r>
              <a:rPr lang="es-CO" dirty="0"/>
              <a:t> = 0;</a:t>
            </a:r>
          </a:p>
          <a:p>
            <a:r>
              <a:rPr lang="es-CO" dirty="0"/>
              <a:t>     cadena = "Ejemplo";</a:t>
            </a:r>
          </a:p>
          <a:p>
            <a:r>
              <a:rPr lang="es-CO" dirty="0"/>
              <a:t>     }</a:t>
            </a:r>
          </a:p>
          <a:p>
            <a:r>
              <a:rPr lang="es-CO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475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58608BC-D135-3952-FCDA-0F44F5D7D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849383E-087E-ED41-E8E5-BAAEC0E56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25B93AD-1553-D8CC-93F3-3012640D0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FBD22CF-BEED-2DD1-40DF-2CE2CD707A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F2DA3B-0116-537A-2249-51A2D9605E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00031E8-6C9E-0273-ABB5-AD5BBA6003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CBA9D42-52B7-AF3E-04AF-D9CF588E6F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A96831C-51AE-AD44-FD59-1067438E32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0D8FD56-1589-DA92-C5A8-DCBF3696EB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91C210-D903-6B8A-7CD4-9F77B88C1B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DEA7F6DB-940F-76ED-40AB-B4A6740B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93" y="1465407"/>
            <a:ext cx="7958331" cy="1077229"/>
          </a:xfrm>
        </p:spPr>
        <p:txBody>
          <a:bodyPr>
            <a:normAutofit fontScale="90000"/>
          </a:bodyPr>
          <a:lstStyle/>
          <a:p>
            <a:r>
              <a:rPr lang="es-CO" dirty="0"/>
              <a:t>Sobre Carga de Funciones Constructoras  </a:t>
            </a:r>
          </a:p>
        </p:txBody>
      </p:sp>
      <p:pic>
        <p:nvPicPr>
          <p:cNvPr id="16" name="Marcador de contenido 4">
            <a:extLst>
              <a:ext uri="{FF2B5EF4-FFF2-40B4-BE49-F238E27FC236}">
                <a16:creationId xmlns:a16="http://schemas.microsoft.com/office/drawing/2014/main" id="{8EBE1C5F-3F71-0C13-2342-20D32DBE37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2960" y="1344573"/>
            <a:ext cx="4600840" cy="534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6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58608BC-D135-3952-FCDA-0F44F5D7D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849383E-087E-ED41-E8E5-BAAEC0E56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25B93AD-1553-D8CC-93F3-3012640D0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FBD22CF-BEED-2DD1-40DF-2CE2CD707A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F2DA3B-0116-537A-2249-51A2D9605E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00031E8-6C9E-0273-ABB5-AD5BBA6003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CBA9D42-52B7-AF3E-04AF-D9CF588E6F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A96831C-51AE-AD44-FD59-1067438E32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0D8FD56-1589-DA92-C5A8-DCBF3696EB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91C210-D903-6B8A-7CD4-9F77B88C1B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8585" y="2067365"/>
            <a:ext cx="10515600" cy="3956468"/>
          </a:xfrm>
        </p:spPr>
        <p:txBody>
          <a:bodyPr>
            <a:normAutofit/>
          </a:bodyPr>
          <a:lstStyle/>
          <a:p>
            <a:pPr marL="344488" lvl="0" indent="-344488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rgbClr val="8EC0C1"/>
              </a:buClr>
              <a:buSzPct val="90000"/>
              <a:buFont typeface="+mj-lt"/>
              <a:buAutoNum type="arabicPeriod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Flexibilidad: Permite crear objetos de diferentes maneras según los datos disponibles, facilitando su uso en diferentes contextos.</a:t>
            </a:r>
            <a:b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Facilidad de uso: Los usuarios de tu clase pueden instanciarla con diferentes conjuntos de parámetros sin necesidad de recordar qué combinaciones son válidas.</a:t>
            </a:r>
            <a:b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Legibilidad: Aumenta la claridad del código al proporcionar diferentes opciones para inicializar objetos, lo que puede hacer que el código sea más comprensible.</a:t>
            </a:r>
            <a:b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Desventajas y Consideraciones:</a:t>
            </a:r>
            <a:b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Mantenibilidad: Tener demasiados constructores puede hacer que el código sea más difícil de mantener, ya que cualquier cambio en la lógica de inicialización puede requerir modificaciones en varios lugares.</a:t>
            </a:r>
            <a:b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 duplicado: Puede surgir código repetido entre los diferentes constructores, lo que aumenta la posibilidad de errores y dificulta el mantenimiento.</a:t>
            </a:r>
            <a:b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Complejidad: Demasiados constructores pueden complicar la API de tu clase, dificultando su uso para otros desarrolladores</a:t>
            </a:r>
            <a:r>
              <a:rPr lang="es-ES" sz="13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3A63164-F72C-5A6D-6CB9-EB5559DE89F5}"/>
              </a:ext>
            </a:extLst>
          </p:cNvPr>
          <p:cNvSpPr txBox="1">
            <a:spLocks/>
          </p:cNvSpPr>
          <p:nvPr/>
        </p:nvSpPr>
        <p:spPr>
          <a:xfrm>
            <a:off x="589302" y="1177143"/>
            <a:ext cx="9530644" cy="1077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s-CO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Ventajas y desventajas de la </a:t>
            </a:r>
            <a:r>
              <a:rPr lang="es-CO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sobrecarga</a:t>
            </a:r>
            <a:r>
              <a:rPr lang="es-CO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8401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806CADCA-4AEF-438F-989C-C379D26F6C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B9BF70-E051-3E25-1629-88976CBBE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030" y="914401"/>
            <a:ext cx="9144000" cy="801932"/>
          </a:xfrm>
        </p:spPr>
        <p:txBody>
          <a:bodyPr>
            <a:normAutofit fontScale="90000"/>
          </a:bodyPr>
          <a:lstStyle/>
          <a:p>
            <a:r>
              <a:rPr lang="es-CO" dirty="0"/>
              <a:t>Abstracción </a:t>
            </a:r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F56905F8-9209-48FB-6075-9257B9686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122" y="1929247"/>
            <a:ext cx="6770776" cy="395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85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806CADCA-4AEF-438F-989C-C379D26F6C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B9BF70-E051-3E25-1629-88976CBBE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7054" y="1019910"/>
            <a:ext cx="6729045" cy="801932"/>
          </a:xfrm>
        </p:spPr>
        <p:txBody>
          <a:bodyPr>
            <a:normAutofit fontScale="90000"/>
          </a:bodyPr>
          <a:lstStyle/>
          <a:p>
            <a:r>
              <a:rPr lang="en-US" dirty="0"/>
              <a:t>Encapsulamiento</a:t>
            </a:r>
            <a:endParaRPr lang="es-CO" dirty="0"/>
          </a:p>
        </p:txBody>
      </p:sp>
      <p:pic>
        <p:nvPicPr>
          <p:cNvPr id="7" name="Marcador de contenido 4">
            <a:extLst>
              <a:ext uri="{FF2B5EF4-FFF2-40B4-BE49-F238E27FC236}">
                <a16:creationId xmlns:a16="http://schemas.microsoft.com/office/drawing/2014/main" id="{E6530620-7FE8-AAD8-4E9F-918D0BE593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57" r="13424" b="3"/>
          <a:stretch/>
        </p:blipFill>
        <p:spPr>
          <a:xfrm>
            <a:off x="5963494" y="914401"/>
            <a:ext cx="5297322" cy="5564284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688985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806CADCA-4AEF-438F-989C-C379D26F6C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B9BF70-E051-3E25-1629-88976CBBE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1700" y="524661"/>
            <a:ext cx="6729045" cy="80193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Polimorfismo</a:t>
            </a:r>
            <a:endParaRPr lang="es-CO" dirty="0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688731" y="1326593"/>
            <a:ext cx="10397015" cy="73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344488" indent="-344488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rgbClr val="8EC0C1"/>
              </a:buClr>
              <a:buSzPct val="90000"/>
              <a:buFont typeface="+mj-lt"/>
              <a:buAutoNum type="arabicPeriod"/>
            </a:pPr>
            <a:r>
              <a:rPr lang="es-ES" sz="1300" b="1" dirty="0">
                <a:latin typeface="Arial" panose="020B0604020202020204"/>
                <a:ea typeface="+mn-ea"/>
                <a:cs typeface="+mn-cs"/>
              </a:rPr>
              <a:t>Es un de os conceptos claves de la programación orientada a objetos, que permite que un objeto pueda comportase de diferentes maneras según el contexto </a:t>
            </a:r>
            <a:endParaRPr lang="es-ES" sz="1300" dirty="0">
              <a:solidFill>
                <a:prstClr val="white"/>
              </a:solidFill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" y="2198078"/>
            <a:ext cx="5028224" cy="464736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762" y="2198078"/>
            <a:ext cx="5301984" cy="453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7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402FB40-1FC8-8BBB-0A18-87EF669E2D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77F5959-DDED-E6EC-C12C-B4506C221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5462" y="1122363"/>
            <a:ext cx="6604847" cy="2387600"/>
          </a:xfrm>
        </p:spPr>
        <p:txBody>
          <a:bodyPr/>
          <a:lstStyle/>
          <a:p>
            <a:r>
              <a:rPr lang="es-CO" dirty="0"/>
              <a:t>Herencia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387CC1-93E4-B880-3571-A89E371C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462" y="3602038"/>
            <a:ext cx="6604847" cy="1655762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La herencia es un concepto fundamental en la programación orientada a objetos (OOP) que permite a una clase (llamada subclase o clase derivada) heredar propiedades y comportamientos (atributos y métodos) de otra clase (llamada superclase o clase base). La herencia es una manera de reutilizar código y establecer una relación jerárquica entre clases.</a:t>
            </a:r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D53A89-F1D5-8239-6B33-3AF003118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913" y="368432"/>
            <a:ext cx="2876550" cy="3980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0E99717-E036-8DDC-6181-92102784D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677" y="6040155"/>
            <a:ext cx="4550417" cy="55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74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402FB40-1FC8-8BBB-0A18-87EF669E2D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77F5959-DDED-E6EC-C12C-B4506C221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7595" y="349214"/>
            <a:ext cx="6604847" cy="960194"/>
          </a:xfrm>
        </p:spPr>
        <p:txBody>
          <a:bodyPr/>
          <a:lstStyle/>
          <a:p>
            <a:r>
              <a:rPr lang="es-CO" dirty="0"/>
              <a:t>Clase Abstracta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387CC1-93E4-B880-3571-A89E371C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13" y="1852323"/>
            <a:ext cx="3217620" cy="2640546"/>
          </a:xfrm>
        </p:spPr>
        <p:txBody>
          <a:bodyPr>
            <a:normAutofit/>
          </a:bodyPr>
          <a:lstStyle/>
          <a:p>
            <a:r>
              <a:rPr lang="es-ES" sz="2000" dirty="0"/>
              <a:t>Una </a:t>
            </a:r>
            <a:r>
              <a:rPr lang="es-ES" sz="2000" b="1" dirty="0"/>
              <a:t>clase abstracta</a:t>
            </a:r>
            <a:r>
              <a:rPr lang="es-ES" sz="2000" dirty="0"/>
              <a:t> es una clase en la programación orientada a objetos que no puede ser instanciada directamente, sino que está diseñada para ser heredada por otras clases</a:t>
            </a:r>
            <a:endParaRPr lang="es-CO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D53A89-F1D5-8239-6B33-3AF003118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913" y="368432"/>
            <a:ext cx="2876550" cy="3980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0E99717-E036-8DDC-6181-92102784D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677" y="6040155"/>
            <a:ext cx="4550417" cy="5525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9439" y="1207781"/>
            <a:ext cx="7569446" cy="547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492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1"/>
            <a:ext cx="12192000" cy="683287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87" y="281281"/>
            <a:ext cx="3016741" cy="41745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F252C44-8640-4B69-B8BA-DC8D8BF1C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41" y="5979770"/>
            <a:ext cx="4550417" cy="552591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B77F5959-DDED-E6EC-C12C-B4506C2212EE}"/>
              </a:ext>
            </a:extLst>
          </p:cNvPr>
          <p:cNvSpPr txBox="1">
            <a:spLocks/>
          </p:cNvSpPr>
          <p:nvPr/>
        </p:nvSpPr>
        <p:spPr>
          <a:xfrm>
            <a:off x="4876911" y="815206"/>
            <a:ext cx="6604847" cy="96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Métodos</a:t>
            </a:r>
            <a:r>
              <a:rPr lang="es-ES" dirty="0"/>
              <a:t> </a:t>
            </a:r>
            <a:endParaRPr lang="es-CO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FA387CC1-93E4-B880-3571-A89E371C5130}"/>
              </a:ext>
            </a:extLst>
          </p:cNvPr>
          <p:cNvSpPr txBox="1">
            <a:spLocks/>
          </p:cNvSpPr>
          <p:nvPr/>
        </p:nvSpPr>
        <p:spPr>
          <a:xfrm>
            <a:off x="467758" y="2108727"/>
            <a:ext cx="3928395" cy="36854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>
                <a:solidFill>
                  <a:schemeClr val="bg1"/>
                </a:solidFill>
              </a:rPr>
              <a:t>Los métodos son bloques de código que se utilizan para realizar tareas específicas. Cada método tiene un nombre que lo identifica y puede recibir una serie de parámetros, los cuales son variables que proporcionan información necesaria para que el método realice su tarea.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274" y="1775400"/>
            <a:ext cx="3724275" cy="37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35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8513CB1-04C7-C85F-A0DE-771795D670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4318183-D3D0-B189-A1C5-649A060D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62700" cy="1325563"/>
          </a:xfrm>
        </p:spPr>
        <p:txBody>
          <a:bodyPr>
            <a:normAutofit/>
          </a:bodyPr>
          <a:lstStyle/>
          <a:p>
            <a:r>
              <a:rPr lang="es-ES" sz="6000" dirty="0"/>
              <a:t>Objetos</a:t>
            </a:r>
            <a:endParaRPr lang="es-CO" sz="6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C7FF04-5DC0-9711-E844-7DE2D2DDC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2700" cy="4351338"/>
          </a:xfrm>
        </p:spPr>
        <p:txBody>
          <a:bodyPr>
            <a:normAutofit lnSpcReduction="10000"/>
          </a:bodyPr>
          <a:lstStyle/>
          <a:p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entidad que representa información sobre una cosa dentro del código de un programa. Los objetos son instancias de una clase definida, que tienen atributos, características y propiedades que los distinguen del resto. Los objetos encapsulan datos y comportamientos relacionados, y cada objeto tiene atributos que almacenan datos y métodos que definen las operaciones que puede realizar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96A80B-BDFF-C977-BEAE-5FC452A12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677" y="6040155"/>
            <a:ext cx="4550417" cy="55259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0" y="917715"/>
            <a:ext cx="4088424" cy="567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0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621B054-99C1-F9C6-B0E7-65CB37F26E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1"/>
            <a:ext cx="12192000" cy="68328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C0BE170-AC27-8DE8-EEB8-0C8E9A61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283F284-07E6-1E37-4BC7-5C6C8DC56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963899B-9845-AE2B-E08D-849F1C0FC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383" y="5958610"/>
            <a:ext cx="4550417" cy="55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35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 dirty="0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 dirty="0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BD37235E5B1F46A3D5C8EE43E66F4D" ma:contentTypeVersion="7" ma:contentTypeDescription="Create a new document." ma:contentTypeScope="" ma:versionID="0ce622ecab1ff4de31a74832903005f8">
  <xsd:schema xmlns:xsd="http://www.w3.org/2001/XMLSchema" xmlns:xs="http://www.w3.org/2001/XMLSchema" xmlns:p="http://schemas.microsoft.com/office/2006/metadata/properties" xmlns:ns2="64caa8b2-62bd-4fb7-8042-473d597eff3e" targetNamespace="http://schemas.microsoft.com/office/2006/metadata/properties" ma:root="true" ma:fieldsID="5be08daeff15f8033187f20e91101b42" ns2:_="">
    <xsd:import namespace="64caa8b2-62bd-4fb7-8042-473d597eff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aa8b2-62bd-4fb7-8042-473d597eff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88521E-61ED-4F45-B1B4-1DD77D94DB22}">
  <ds:schemaRefs>
    <ds:schemaRef ds:uri="http://schemas.microsoft.com/office/2006/metadata/properties"/>
    <ds:schemaRef ds:uri="http://schemas.microsoft.com/office/infopath/2007/PartnerControls"/>
    <ds:schemaRef ds:uri="898a1637-15bf-40de-bb83-d1701772c8de"/>
    <ds:schemaRef ds:uri="02f92887-2380-4577-a522-0d3d154534c9"/>
  </ds:schemaRefs>
</ds:datastoreItem>
</file>

<file path=customXml/itemProps2.xml><?xml version="1.0" encoding="utf-8"?>
<ds:datastoreItem xmlns:ds="http://schemas.openxmlformats.org/officeDocument/2006/customXml" ds:itemID="{FC919F4C-4D9D-497E-BF86-57E2DE93D85B}"/>
</file>

<file path=customXml/itemProps3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635</Words>
  <Application>Microsoft Office PowerPoint</Application>
  <PresentationFormat>Widescreen</PresentationFormat>
  <Paragraphs>49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3_Tema de Office</vt:lpstr>
      <vt:lpstr>1_Tema de Office</vt:lpstr>
      <vt:lpstr>PowerPoint Presentation</vt:lpstr>
      <vt:lpstr>PowerPoint Presentation</vt:lpstr>
      <vt:lpstr>Clases </vt:lpstr>
      <vt:lpstr>Objetos</vt:lpstr>
      <vt:lpstr>Atributos</vt:lpstr>
      <vt:lpstr>Metodos(funciones)</vt:lpstr>
      <vt:lpstr>Constructores </vt:lpstr>
      <vt:lpstr>Sobre Carga de Funciones Constructoras  </vt:lpstr>
      <vt:lpstr>Flexibilidad: Permite crear objetos de diferentes maneras según los datos disponibles, facilitando su uso en diferentes contextos. Facilidad de uso: Los usuarios de tu clase pueden instanciarla con diferentes conjuntos de parámetros sin necesidad de recordar qué combinaciones son válidas. Legibilidad: Aumenta la claridad del código al proporcionar diferentes opciones para inicializar objetos, lo que puede hacer que el código sea más comprensible. Desventajas y Consideraciones: Mantenibilidad: Tener demasiados constructores puede hacer que el código sea más difícil de mantener, ya que cualquier cambio en la lógica de inicialización puede requerir modificaciones en varios lugares. Código duplicado: Puede surgir código repetido entre los diferentes constructores, lo que aumenta la posibilidad de errores y dificulta el mantenimiento. Complejidad: Demasiados constructores pueden complicar la API de tu clase, dificultando su uso para otros desarrolladores.</vt:lpstr>
      <vt:lpstr>Abstracción </vt:lpstr>
      <vt:lpstr>Encapsulamiento</vt:lpstr>
      <vt:lpstr>Polimorfismo</vt:lpstr>
      <vt:lpstr>Herencia </vt:lpstr>
      <vt:lpstr>Clase Abstracta  </vt:lpstr>
      <vt:lpstr>PowerPoint Presentation</vt:lpstr>
      <vt:lpstr>Objetos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Administrador</cp:lastModifiedBy>
  <cp:revision>44</cp:revision>
  <dcterms:created xsi:type="dcterms:W3CDTF">2022-07-12T20:27:57Z</dcterms:created>
  <dcterms:modified xsi:type="dcterms:W3CDTF">2026-02-07T20:45:27Z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0x01010099BD37235E5B1F46A3D5C8EE43E66F4D</vt:lpwstr>
  </property>
</Properties>
</file>